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E1E1E"/>
                </a:solidFill>
                <a:latin typeface="Microsoft YaHei"/>
              </a:rPr>
              <a:t>Tier 3 CO2排放因子与PEMS实测值对比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85800"/>
            <a:ext cx="5669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1E1E"/>
                </a:solidFill>
                <a:latin typeface="Microsoft YaHei"/>
              </a:rPr>
              <a:t>四种道路类型的实测值与模拟值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69848"/>
            <a:ext cx="4389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Microsoft YaHei"/>
              </a:rPr>
              <a:t>CO2排放因子（g/km）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50392" y="5788152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5678424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50392" y="4880922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4771194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28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" y="3973693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" y="3863965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56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" y="3066463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040" y="2956735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84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0392" y="2159234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0040" y="2049506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112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" y="1252004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0040" y="1142276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140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2" y="1216152"/>
            <a:ext cx="0" cy="457200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0392" y="5788152"/>
            <a:ext cx="4919472" cy="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3846" y="5843016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Microsoft YaHei"/>
              </a:rPr>
              <a:t>快速路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45869" y="3809913"/>
            <a:ext cx="219456" cy="1978238"/>
          </a:xfrm>
          <a:prstGeom prst="rect">
            <a:avLst/>
          </a:prstGeom>
          <a:solidFill>
            <a:srgbClr val="4E79A7"/>
          </a:solidFill>
          <a:ln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5557" y="3590457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61.1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5326" y="3797042"/>
            <a:ext cx="219456" cy="1991109"/>
          </a:xfrm>
          <a:prstGeom prst="rect">
            <a:avLst/>
          </a:prstGeom>
          <a:solidFill>
            <a:srgbClr val="CC5A6A"/>
          </a:solidFill>
          <a:ln>
            <a:solidFill>
              <a:srgbClr val="CC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5014" y="3577586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61.5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3713" y="5843016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Microsoft YaHei"/>
              </a:rPr>
              <a:t>主干路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75737" y="3867448"/>
            <a:ext cx="219456" cy="1920703"/>
          </a:xfrm>
          <a:prstGeom prst="rect">
            <a:avLst/>
          </a:prstGeom>
          <a:solidFill>
            <a:srgbClr val="4E79A7"/>
          </a:solidFill>
          <a:ln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65425" y="3647992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59.3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5194" y="3625784"/>
            <a:ext cx="219456" cy="2162367"/>
          </a:xfrm>
          <a:prstGeom prst="rect">
            <a:avLst/>
          </a:prstGeom>
          <a:solidFill>
            <a:srgbClr val="CC5A6A"/>
          </a:solidFill>
          <a:ln>
            <a:solidFill>
              <a:srgbClr val="CC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4882" y="3406328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66.7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3581" y="5843016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Microsoft YaHei"/>
              </a:rPr>
              <a:t>次干路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5605" y="3895220"/>
            <a:ext cx="219456" cy="1892931"/>
          </a:xfrm>
          <a:prstGeom prst="rect">
            <a:avLst/>
          </a:prstGeom>
          <a:solidFill>
            <a:srgbClr val="4E79A7"/>
          </a:solidFill>
          <a:ln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95293" y="3675764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58.4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25061" y="3456838"/>
            <a:ext cx="219456" cy="2331313"/>
          </a:xfrm>
          <a:prstGeom prst="rect">
            <a:avLst/>
          </a:prstGeom>
          <a:solidFill>
            <a:srgbClr val="CC5A6A"/>
          </a:solidFill>
          <a:ln>
            <a:solidFill>
              <a:srgbClr val="CC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4750" y="3237382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72.0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3449" y="5843016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Microsoft YaHei"/>
              </a:rPr>
              <a:t>支路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5473" y="1913575"/>
            <a:ext cx="219456" cy="3874576"/>
          </a:xfrm>
          <a:prstGeom prst="rect">
            <a:avLst/>
          </a:prstGeom>
          <a:solidFill>
            <a:srgbClr val="4E79A7"/>
          </a:solidFill>
          <a:ln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25162" y="1694119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119.6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54929" y="2970424"/>
            <a:ext cx="219456" cy="2817727"/>
          </a:xfrm>
          <a:prstGeom prst="rect">
            <a:avLst/>
          </a:prstGeom>
          <a:solidFill>
            <a:srgbClr val="CC5A6A"/>
          </a:solidFill>
          <a:ln>
            <a:solidFill>
              <a:srgbClr val="CC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44618" y="2750968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87.0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19" y="6108192"/>
            <a:ext cx="146304" cy="146304"/>
          </a:xfrm>
          <a:prstGeom prst="rect">
            <a:avLst/>
          </a:prstGeom>
          <a:solidFill>
            <a:srgbClr val="4E79A7"/>
          </a:solidFill>
          <a:ln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2999" y="6071616"/>
            <a:ext cx="1005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Microsoft YaHei"/>
              </a:rPr>
              <a:t>实测值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6108192"/>
            <a:ext cx="146304" cy="146304"/>
          </a:xfrm>
          <a:prstGeom prst="rect">
            <a:avLst/>
          </a:prstGeom>
          <a:solidFill>
            <a:srgbClr val="CC5A6A"/>
          </a:solidFill>
          <a:ln>
            <a:solidFill>
              <a:srgbClr val="CC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6071616"/>
            <a:ext cx="1005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Microsoft YaHei"/>
              </a:rPr>
              <a:t>COPERT模拟值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685800"/>
            <a:ext cx="5669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1E1E"/>
                </a:solidFill>
                <a:latin typeface="Microsoft YaHei"/>
              </a:rPr>
              <a:t>COPERT模拟值与实测值的误差率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1069848"/>
            <a:ext cx="4389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Microsoft YaHei"/>
              </a:rPr>
              <a:t>误差率（%）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48272" y="5788152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0" y="5678424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48272" y="4983591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17920" y="4873863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48272" y="4179031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17920" y="4069303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12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48272" y="3374470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217920" y="3264742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18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48272" y="2569910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217920" y="2460182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24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48272" y="1765350"/>
            <a:ext cx="4919472" cy="0"/>
          </a:xfrm>
          <a:prstGeom prst="line">
            <a:avLst/>
          </a:prstGeom>
          <a:ln w="12700">
            <a:solidFill>
              <a:srgbClr val="DCE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217920" y="1655622"/>
            <a:ext cx="4389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1E1E1E"/>
                </a:solidFill>
                <a:latin typeface="Microsoft YaHei"/>
              </a:rPr>
              <a:t>30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48272" y="1216152"/>
            <a:ext cx="0" cy="457200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748272" y="5788152"/>
            <a:ext cx="4919472" cy="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951726" y="5843016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Microsoft YaHei"/>
              </a:rPr>
              <a:t>快速路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478" y="5700906"/>
            <a:ext cx="219456" cy="87245"/>
          </a:xfrm>
          <a:prstGeom prst="rect">
            <a:avLst/>
          </a:prstGeom>
          <a:solidFill>
            <a:srgbClr val="CC5A6A"/>
          </a:solidFill>
          <a:ln>
            <a:solidFill>
              <a:srgbClr val="CC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43166" y="5481450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0.7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1594" y="5843016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Microsoft YaHei"/>
              </a:rPr>
              <a:t>主干路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83346" y="4100981"/>
            <a:ext cx="219456" cy="1687170"/>
          </a:xfrm>
          <a:prstGeom prst="rect">
            <a:avLst/>
          </a:prstGeom>
          <a:solidFill>
            <a:srgbClr val="CC5A6A"/>
          </a:solidFill>
          <a:ln>
            <a:solidFill>
              <a:srgbClr val="CC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73034" y="3881525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12.6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1462" y="5843016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Microsoft YaHei"/>
              </a:rPr>
              <a:t>次干路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13214" y="2682692"/>
            <a:ext cx="219456" cy="3105459"/>
          </a:xfrm>
          <a:prstGeom prst="rect">
            <a:avLst/>
          </a:prstGeom>
          <a:solidFill>
            <a:srgbClr val="CC5A6A"/>
          </a:solidFill>
          <a:ln>
            <a:solidFill>
              <a:srgbClr val="CC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02902" y="2463236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23.2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41330" y="5843016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Microsoft YaHei"/>
              </a:rPr>
              <a:t>支路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43082" y="2130552"/>
            <a:ext cx="219456" cy="3657600"/>
          </a:xfrm>
          <a:prstGeom prst="rect">
            <a:avLst/>
          </a:prstGeom>
          <a:solidFill>
            <a:srgbClr val="CC5A6A"/>
          </a:solidFill>
          <a:ln>
            <a:solidFill>
              <a:srgbClr val="CC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732769" y="1911095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Microsoft YaHei"/>
              </a:rPr>
              <a:t>27.3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6108192"/>
            <a:ext cx="146304" cy="146304"/>
          </a:xfrm>
          <a:prstGeom prst="rect">
            <a:avLst/>
          </a:prstGeom>
          <a:solidFill>
            <a:srgbClr val="CC5A6A"/>
          </a:solidFill>
          <a:ln>
            <a:solidFill>
              <a:srgbClr val="CC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80" y="6071616"/>
            <a:ext cx="1005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Microsoft YaHei"/>
              </a:rPr>
              <a:t>COPERT模拟误差率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